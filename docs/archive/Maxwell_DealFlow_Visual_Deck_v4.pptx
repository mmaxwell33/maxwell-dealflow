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1828800" cy="73152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8FAFC"/>
                </a:solidFill>
                <a:latin typeface="Calibri"/>
              </a:rPr>
              <a:t>Maxwell DealFlow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CC785C"/>
                </a:solidFill>
                <a:latin typeface="Calibri"/>
              </a:rPr>
              <a:t>Visual Guide v4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4A3B8"/>
                </a:solidFill>
                <a:latin typeface="Calibri"/>
              </a:rPr>
              <a:t>Every screen, email, and portal in the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Maxwell Midodzi  ·  eXp Realty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914400" cy="54864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C785C"/>
                </a:solidFill>
                <a:latin typeface="Calibri"/>
              </a:rPr>
              <a:t>App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8FAFC"/>
                </a:solidFill>
                <a:latin typeface="Calibri"/>
              </a:rPr>
              <a:t>12 screens — Dashboard through Approval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C785C"/>
                </a:solidFill>
                <a:latin typeface="Calibri"/>
              </a:rPr>
              <a:t>Email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06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8FAFC"/>
                </a:solidFill>
                <a:latin typeface="Calibri"/>
              </a:rPr>
              <a:t>17 templates — every email the system sends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C785C"/>
                </a:solidFill>
                <a:latin typeface="Calibri"/>
              </a:rPr>
              <a:t>Public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83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8FAFC"/>
                </a:solidFill>
                <a:latin typeface="Calibri"/>
              </a:rPr>
              <a:t>4 portals — client / builder / stakeholder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C785C"/>
                </a:solidFill>
                <a:latin typeface="Calibri"/>
              </a:rPr>
              <a:t>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60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8FAFC"/>
                </a:solidFill>
                <a:latin typeface="Calibri"/>
              </a:rPr>
              <a:t>3 screens — phone layout + push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73152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8FAFC"/>
                </a:solidFill>
                <a:latin typeface="Calibri"/>
              </a:rPr>
              <a:t>App Screens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Daily home view</a:t>
            </a:r>
          </a:p>
        </p:txBody>
      </p:sp>
      <p:pic>
        <p:nvPicPr>
          <p:cNvPr id="6" name="Picture 5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Clients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All clients with stage filters</a:t>
            </a:r>
          </a:p>
        </p:txBody>
      </p:sp>
      <p:pic>
        <p:nvPicPr>
          <p:cNvPr id="6" name="Picture 5" descr="cli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Viewings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Upcoming viewings tracker</a:t>
            </a:r>
          </a:p>
        </p:txBody>
      </p:sp>
      <p:pic>
        <p:nvPicPr>
          <p:cNvPr id="6" name="Picture 5" descr="view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Offers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Active offers with KPIs</a:t>
            </a:r>
          </a:p>
        </p:txBody>
      </p:sp>
      <p:pic>
        <p:nvPicPr>
          <p:cNvPr id="6" name="Picture 5" descr="off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Vertical deal cards with milestone dates</a:t>
            </a:r>
          </a:p>
        </p:txBody>
      </p:sp>
      <p:pic>
        <p:nvPicPr>
          <p:cNvPr id="6" name="Picture 5" descr="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Pipeline 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Single deal interior with tabs</a:t>
            </a:r>
          </a:p>
        </p:txBody>
      </p:sp>
      <p:pic>
        <p:nvPicPr>
          <p:cNvPr id="6" name="Picture 5" descr="pipeline-d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New Builds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Construction tracker with milestones</a:t>
            </a:r>
          </a:p>
        </p:txBody>
      </p:sp>
      <p:pic>
        <p:nvPicPr>
          <p:cNvPr id="6" name="Picture 5" descr="newbui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Commissions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YTD earnings + record new</a:t>
            </a:r>
          </a:p>
        </p:txBody>
      </p:sp>
      <p:pic>
        <p:nvPicPr>
          <p:cNvPr id="6" name="Picture 5" descr="commiss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KPIs and charts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Portal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View analytics by source and client</a:t>
            </a:r>
          </a:p>
        </p:txBody>
      </p:sp>
      <p:pic>
        <p:nvPicPr>
          <p:cNvPr id="6" name="Picture 5" descr="portal-traff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Approvals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Notifications awaiting approval</a:t>
            </a:r>
          </a:p>
        </p:txBody>
      </p:sp>
      <p:pic>
        <p:nvPicPr>
          <p:cNvPr id="6" name="Picture 5" descr="approvals-que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Approval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Email preview before sending</a:t>
            </a:r>
          </a:p>
        </p:txBody>
      </p:sp>
      <p:pic>
        <p:nvPicPr>
          <p:cNvPr id="6" name="Picture 5" descr="approval-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73152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8FAFC"/>
                </a:solidFill>
                <a:latin typeface="Calibri"/>
              </a:rPr>
              <a:t>Email Templates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Viewing Confirmed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When client books a viewing</a:t>
            </a:r>
          </a:p>
        </p:txBody>
      </p:sp>
      <p:pic>
        <p:nvPicPr>
          <p:cNvPr id="6" name="Picture 5" descr="email-viewing-confir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Viewing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When viewing details change</a:t>
            </a:r>
          </a:p>
        </p:txBody>
      </p:sp>
      <p:pic>
        <p:nvPicPr>
          <p:cNvPr id="6" name="Picture 5" descr="email-viewing-upd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Viewing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After viewing completed</a:t>
            </a:r>
          </a:p>
        </p:txBody>
      </p:sp>
      <p:pic>
        <p:nvPicPr>
          <p:cNvPr id="6" name="Picture 5" descr="email-viewing-follow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Ready to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Encouraging offer submission</a:t>
            </a:r>
          </a:p>
        </p:txBody>
      </p:sp>
      <p:pic>
        <p:nvPicPr>
          <p:cNvPr id="6" name="Picture 5" descr="email-ready-to-off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Offer Submitted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Offer sent to seller</a:t>
            </a:r>
          </a:p>
        </p:txBody>
      </p:sp>
      <p:pic>
        <p:nvPicPr>
          <p:cNvPr id="6" name="Picture 5" descr="email-offer-submit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Offer Accepted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Offer is accepted</a:t>
            </a:r>
          </a:p>
        </p:txBody>
      </p:sp>
      <p:pic>
        <p:nvPicPr>
          <p:cNvPr id="6" name="Picture 5" descr="email-offer-accep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Offer 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Seller counters offer</a:t>
            </a:r>
          </a:p>
        </p:txBody>
      </p:sp>
      <p:pic>
        <p:nvPicPr>
          <p:cNvPr id="6" name="Picture 5" descr="email-offer-counte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Offer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Offer is rejected</a:t>
            </a:r>
          </a:p>
        </p:txBody>
      </p:sp>
      <p:pic>
        <p:nvPicPr>
          <p:cNvPr id="6" name="Picture 5" descr="email-offer-rejec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Condition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Condition deadline approaching</a:t>
            </a:r>
          </a:p>
        </p:txBody>
      </p:sp>
      <p:pic>
        <p:nvPicPr>
          <p:cNvPr id="6" name="Picture 5" descr="email-condition-remi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Closing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Closing is imminent</a:t>
            </a:r>
          </a:p>
        </p:txBody>
      </p:sp>
      <p:pic>
        <p:nvPicPr>
          <p:cNvPr id="6" name="Picture 5" descr="email-closing-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Final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Final walkthrough scheduled</a:t>
            </a:r>
          </a:p>
        </p:txBody>
      </p:sp>
      <p:pic>
        <p:nvPicPr>
          <p:cNvPr id="6" name="Picture 5" descr="email-walkthroug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Keys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Closing complete</a:t>
            </a:r>
          </a:p>
        </p:txBody>
      </p:sp>
      <p:pic>
        <p:nvPicPr>
          <p:cNvPr id="6" name="Picture 5" descr="email-keys-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Review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Post-closing follow-up</a:t>
            </a:r>
          </a:p>
        </p:txBody>
      </p:sp>
      <p:pic>
        <p:nvPicPr>
          <p:cNvPr id="6" name="Picture 5" descr="email-review-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New Listing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Property matches saved search</a:t>
            </a:r>
          </a:p>
        </p:txBody>
      </p:sp>
      <p:pic>
        <p:nvPicPr>
          <p:cNvPr id="6" name="Picture 5" descr="email-new-lis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Search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Market update sent</a:t>
            </a:r>
          </a:p>
        </p:txBody>
      </p:sp>
      <p:pic>
        <p:nvPicPr>
          <p:cNvPr id="6" name="Picture 5" descr="email-search-upd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New client onboarded</a:t>
            </a:r>
          </a:p>
        </p:txBody>
      </p:sp>
      <p:pic>
        <p:nvPicPr>
          <p:cNvPr id="6" name="Picture 5" descr="email-welc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Email: Build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New build reaches milestone</a:t>
            </a:r>
          </a:p>
        </p:txBody>
      </p:sp>
      <p:pic>
        <p:nvPicPr>
          <p:cNvPr id="6" name="Picture 5" descr="email-build-upd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46" y="1371600"/>
            <a:ext cx="3790603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73152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8FAFC"/>
                </a:solidFill>
                <a:latin typeface="Calibri"/>
              </a:rPr>
              <a:t>Public Pages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Viewing Response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Client-facing feedback form</a:t>
            </a:r>
          </a:p>
        </p:txBody>
      </p:sp>
      <p:pic>
        <p:nvPicPr>
          <p:cNvPr id="6" name="Picture 5" descr="public-resp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Build Portal (Client)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Public new build tracker</a:t>
            </a:r>
          </a:p>
        </p:txBody>
      </p:sp>
      <p:pic>
        <p:nvPicPr>
          <p:cNvPr id="6" name="Picture 5" descr="public-bui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Builder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Builder-facing progress updates</a:t>
            </a:r>
          </a:p>
        </p:txBody>
      </p:sp>
      <p:pic>
        <p:nvPicPr>
          <p:cNvPr id="6" name="Picture 5" descr="builder-portal-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Stakeholder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Lawyer/lender view of deal</a:t>
            </a:r>
          </a:p>
        </p:txBody>
      </p:sp>
      <p:pic>
        <p:nvPicPr>
          <p:cNvPr id="6" name="Picture 5" descr="stakeholder-portal-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3" y="1371600"/>
            <a:ext cx="8339328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73152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8FAFC"/>
                </a:solidFill>
                <a:latin typeface="Calibri"/>
              </a:rPr>
              <a:t>Mobile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Mobile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390x844 mobile layout</a:t>
            </a:r>
          </a:p>
        </p:txBody>
      </p:sp>
      <p:pic>
        <p:nvPicPr>
          <p:cNvPr id="6" name="Picture 5" descr="mobile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35" y="1371600"/>
            <a:ext cx="2408425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Mobile Build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Build tracker on phone</a:t>
            </a:r>
          </a:p>
        </p:txBody>
      </p:sp>
      <p:pic>
        <p:nvPicPr>
          <p:cNvPr id="6" name="Picture 5" descr="mobile-build-por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35" y="1371600"/>
            <a:ext cx="2408425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4572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Calibri"/>
              </a:rPr>
              <a:t>Mobile Push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iPhone lock screen alert</a:t>
            </a:r>
          </a:p>
        </p:txBody>
      </p:sp>
      <p:pic>
        <p:nvPicPr>
          <p:cNvPr id="6" name="Picture 5" descr="mobile-pu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35" y="1371600"/>
            <a:ext cx="2408425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Maxwell DealFlow Visual Guide v4  · 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1828800" cy="73152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Calibri"/>
              </a:rPr>
              <a:t>End of Visual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C785C"/>
                </a:solidFill>
                <a:latin typeface="Calibri"/>
              </a:rPr>
              <a:t>Maxwell DealFlow CRM  ·  eXp Realty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Sample data only — all client names and addresses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